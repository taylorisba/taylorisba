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74" r:id="rId3"/>
    <p:sldId id="275" r:id="rId5"/>
    <p:sldId id="276" r:id="rId11"/>
    <p:sldId id="277" r:id="rId12"/>
    <p:sldId id="278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ACAA0E-26A8-456A-B6BE-2222CA19248F}">
          <p14:sldIdLst>
            <p14:sldId id="274"/>
            <p14:sldId id="3518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二木 张" initials="二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63" autoAdjust="0"/>
    <p:restoredTop sz="94660"/>
  </p:normalViewPr>
  <p:slideViewPr>
    <p:cSldViewPr snapToGrid="0">
      <p:cViewPr>
        <p:scale>
          <a:sx n="75" d="100"/>
          <a:sy n="75" d="100"/>
        </p:scale>
        <p:origin x="732" y="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3" d="100"/>
          <a:sy n="103" d="100"/>
        </p:scale>
        <p:origin x="4572" y="12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commentAuthors" Target="commentAuthors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3AFCA-CE76-4CD7-8720-B6B85F293E23}" type="datetimeFigureOut">
              <a:rPr lang="zh-CN" altLang="en-US" smtClean="0">
                <a:latin typeface="OPPOSans R" panose="00020600040101010101" pitchFamily="18" charset="-122"/>
                <a:ea typeface="OPPOSans R" panose="00020600040101010101" pitchFamily="18" charset="-122"/>
              </a:rPr>
            </a:fld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2E120-5343-4AFF-A722-D79071189E2B}" type="slidenum">
              <a:rPr lang="zh-CN" altLang="en-US" smtClean="0">
                <a:latin typeface="OPPOSans R" panose="00020600040101010101" pitchFamily="18" charset="-122"/>
                <a:ea typeface="OPPOSans R" panose="00020600040101010101" pitchFamily="18" charset="-122"/>
              </a:rPr>
            </a:fld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C1023B5C-661D-40C8-BF7A-5DCB164589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243253B4-90AB-4170-9AAC-A58236034D0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253B4-90AB-4170-9AAC-A58236034D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图片解读：论文首页的 Figure 1 直接概括了 UnrealZoo 的定位：场景、实体和任务三者组合，服务于导航、主动跟踪与社会交互。汇报时说明作者的重点是“实验基础设施”，不是提出新的单一智能体模型。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图片解读：这是论文场景与实体集合的总览页。左侧体现环境类别和尺度的跨度，右侧体现可交互实体的身体形态跨度。讲解时强调“多样性是可组合的”，同一场景可以替换实体、改变天气和人口。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图片解读：这一页没有单独放原图，以结构化文字解释论文的系统架构。演讲时可画出“策略—客户端—服务端—环境”的闭环：策略输出动作，客户端发送请求，引擎返回视觉和状态。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讲稿提醒：这一页严格停留在论文前八页能够读到的动机、贡献和实验计划，不提前展开后文的具体数值。这样汇报逻辑完整，也不会因为没有时间精读全文而在细节上被追问。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图片解读：这里不新增论文后半部分结论，而是把摘要和引言中的四项贡献压缩成组会可讲的版本。图片可以不放，重点是让听众记住平台的四层价值。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讲稿：这些限制来自论文问题设定的自然延伸，也适合作为老师提问时的回答。可以主动说明：本文的价值首先是扩大评测空间，不能直接等同于解决了真实世界部署。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收尾：说明本次汇报只覆盖论文前八页，后续实验数据和结论暂不展开。若老师追问后文，可回答自己会在会后继续阅读，并重点补充实验设置、指标和失败案例。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2F2F2">
                  <a:alpha val="100000"/>
                </a:srgbClr>
              </a:clrFrom>
              <a:clrTo>
                <a:srgbClr val="F2F2F2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57945" y="212725"/>
            <a:ext cx="3020060" cy="8737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0" y="714375"/>
            <a:ext cx="121920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2F2F2">
                  <a:alpha val="100000"/>
                </a:srgbClr>
              </a:clrFrom>
              <a:clrTo>
                <a:srgbClr val="F2F2F2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8110" y="64770"/>
            <a:ext cx="2007235" cy="5810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六青原创高端设计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1372235"/>
            <a:ext cx="12192000" cy="2900045"/>
          </a:xfrm>
          <a:prstGeom prst="rect">
            <a:avLst/>
          </a:prstGeom>
        </p:spPr>
      </p:pic>
      <p:cxnSp>
        <p:nvCxnSpPr>
          <p:cNvPr id="23" name="六青原创高端设计"/>
          <p:cNvCxnSpPr/>
          <p:nvPr/>
        </p:nvCxnSpPr>
        <p:spPr>
          <a:xfrm>
            <a:off x="-1" y="1299490"/>
            <a:ext cx="1219200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六青原创高端设计"/>
          <p:cNvSpPr/>
          <p:nvPr/>
        </p:nvSpPr>
        <p:spPr>
          <a:xfrm>
            <a:off x="0" y="1372235"/>
            <a:ext cx="12192000" cy="290068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+mn-cs"/>
            </a:endParaRPr>
          </a:p>
        </p:txBody>
      </p:sp>
      <p:sp>
        <p:nvSpPr>
          <p:cNvPr id="4" name="六青原创高端设计"/>
          <p:cNvSpPr txBox="1"/>
          <p:nvPr/>
        </p:nvSpPr>
        <p:spPr>
          <a:xfrm>
            <a:off x="2528570" y="2104729"/>
            <a:ext cx="713486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700" b="1">
                <a:solidFill>
                  <a:srgbClr val="18375F"/>
                </a:solidFill>
                <a:latin typeface="Microsoft YaHei"/>
              </a:rPr>
              <a:t>UnrealZoo：</a:t>
            </a:r>
          </a:p>
          <a:p>
            <a:r>
              <a:rPr sz="2700" b="1">
                <a:solidFill>
                  <a:srgbClr val="18375F"/>
                </a:solidFill>
                <a:latin typeface="Microsoft YaHei"/>
              </a:rPr>
              <a:t>面向具身智能的逼真开放世界</a:t>
            </a:r>
          </a:p>
        </p:txBody>
      </p:sp>
      <p:cxnSp>
        <p:nvCxnSpPr>
          <p:cNvPr id="7" name="六青原创高端设计"/>
          <p:cNvCxnSpPr/>
          <p:nvPr/>
        </p:nvCxnSpPr>
        <p:spPr>
          <a:xfrm>
            <a:off x="1333500" y="3378147"/>
            <a:ext cx="9525000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青原创高端设计"/>
          <p:cNvSpPr/>
          <p:nvPr/>
        </p:nvSpPr>
        <p:spPr>
          <a:xfrm>
            <a:off x="5562601" y="757093"/>
            <a:ext cx="1066800" cy="106679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+mn-cs"/>
            </a:endParaRPr>
          </a:p>
        </p:txBody>
      </p:sp>
      <p:grpSp>
        <p:nvGrpSpPr>
          <p:cNvPr id="3" name="六青原创高端设计"/>
          <p:cNvGrpSpPr/>
          <p:nvPr/>
        </p:nvGrpSpPr>
        <p:grpSpPr>
          <a:xfrm>
            <a:off x="1371756" y="5831597"/>
            <a:ext cx="9715344" cy="379095"/>
            <a:chOff x="1470712" y="5782212"/>
            <a:chExt cx="9715344" cy="379095"/>
          </a:xfrm>
        </p:grpSpPr>
        <p:sp>
          <p:nvSpPr>
            <p:cNvPr id="11" name="六青原创高端设计"/>
            <p:cNvSpPr txBox="1"/>
            <p:nvPr/>
          </p:nvSpPr>
          <p:spPr>
            <a:xfrm>
              <a:off x="1825606" y="5782212"/>
              <a:ext cx="17830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+mn-cs"/>
                </a:rPr>
                <a:t>申请人：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+mn-cs"/>
                </a:rPr>
                <a:t>李欣洋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7" name="六青原创高端设计"/>
            <p:cNvSpPr/>
            <p:nvPr userDrawn="1"/>
          </p:nvSpPr>
          <p:spPr>
            <a:xfrm>
              <a:off x="1470712" y="5843919"/>
              <a:ext cx="330510" cy="245918"/>
            </a:xfrm>
            <a:custGeom>
              <a:avLst/>
              <a:gdLst>
                <a:gd name="connsiteX0" fmla="*/ 10223 w 596651"/>
                <a:gd name="connsiteY0" fmla="*/ 332075 h 443943"/>
                <a:gd name="connsiteX1" fmla="*/ 57217 w 596651"/>
                <a:gd name="connsiteY1" fmla="*/ 332075 h 443943"/>
                <a:gd name="connsiteX2" fmla="*/ 67353 w 596651"/>
                <a:gd name="connsiteY2" fmla="*/ 427370 h 443943"/>
                <a:gd name="connsiteX3" fmla="*/ 63667 w 596651"/>
                <a:gd name="connsiteY3" fmla="*/ 438879 h 443943"/>
                <a:gd name="connsiteX4" fmla="*/ 52149 w 596651"/>
                <a:gd name="connsiteY4" fmla="*/ 443943 h 443943"/>
                <a:gd name="connsiteX5" fmla="*/ 15291 w 596651"/>
                <a:gd name="connsiteY5" fmla="*/ 443943 h 443943"/>
                <a:gd name="connsiteX6" fmla="*/ 4233 w 596651"/>
                <a:gd name="connsiteY6" fmla="*/ 438879 h 443943"/>
                <a:gd name="connsiteX7" fmla="*/ 87 w 596651"/>
                <a:gd name="connsiteY7" fmla="*/ 427370 h 443943"/>
                <a:gd name="connsiteX8" fmla="*/ 528865 w 596651"/>
                <a:gd name="connsiteY8" fmla="*/ 191185 h 443943"/>
                <a:gd name="connsiteX9" fmla="*/ 541774 w 596651"/>
                <a:gd name="connsiteY9" fmla="*/ 309970 h 443943"/>
                <a:gd name="connsiteX10" fmla="*/ 526559 w 596651"/>
                <a:gd name="connsiteY10" fmla="*/ 325163 h 443943"/>
                <a:gd name="connsiteX11" fmla="*/ 523793 w 596651"/>
                <a:gd name="connsiteY11" fmla="*/ 325163 h 443943"/>
                <a:gd name="connsiteX12" fmla="*/ 486909 w 596651"/>
                <a:gd name="connsiteY12" fmla="*/ 322401 h 443943"/>
                <a:gd name="connsiteX13" fmla="*/ 322773 w 596651"/>
                <a:gd name="connsiteY13" fmla="*/ 399749 h 443943"/>
                <a:gd name="connsiteX14" fmla="*/ 309403 w 596651"/>
                <a:gd name="connsiteY14" fmla="*/ 408036 h 443943"/>
                <a:gd name="connsiteX15" fmla="*/ 304792 w 596651"/>
                <a:gd name="connsiteY15" fmla="*/ 408036 h 443943"/>
                <a:gd name="connsiteX16" fmla="*/ 290960 w 596651"/>
                <a:gd name="connsiteY16" fmla="*/ 399749 h 443943"/>
                <a:gd name="connsiteX17" fmla="*/ 126825 w 596651"/>
                <a:gd name="connsiteY17" fmla="*/ 322401 h 443943"/>
                <a:gd name="connsiteX18" fmla="*/ 89940 w 596651"/>
                <a:gd name="connsiteY18" fmla="*/ 325163 h 443943"/>
                <a:gd name="connsiteX19" fmla="*/ 77031 w 596651"/>
                <a:gd name="connsiteY19" fmla="*/ 320559 h 443943"/>
                <a:gd name="connsiteX20" fmla="*/ 72420 w 596651"/>
                <a:gd name="connsiteY20" fmla="*/ 307668 h 443943"/>
                <a:gd name="connsiteX21" fmla="*/ 85330 w 596651"/>
                <a:gd name="connsiteY21" fmla="*/ 192106 h 443943"/>
                <a:gd name="connsiteX22" fmla="*/ 307097 w 596651"/>
                <a:gd name="connsiteY22" fmla="*/ 275439 h 443943"/>
                <a:gd name="connsiteX23" fmla="*/ 301581 w 596651"/>
                <a:gd name="connsiteY23" fmla="*/ 1035 h 443943"/>
                <a:gd name="connsiteX24" fmla="*/ 312185 w 596651"/>
                <a:gd name="connsiteY24" fmla="*/ 1035 h 443943"/>
                <a:gd name="connsiteX25" fmla="*/ 586508 w 596651"/>
                <a:gd name="connsiteY25" fmla="*/ 104161 h 443943"/>
                <a:gd name="connsiteX26" fmla="*/ 596651 w 596651"/>
                <a:gd name="connsiteY26" fmla="*/ 118433 h 443943"/>
                <a:gd name="connsiteX27" fmla="*/ 586508 w 596651"/>
                <a:gd name="connsiteY27" fmla="*/ 132705 h 443943"/>
                <a:gd name="connsiteX28" fmla="*/ 312185 w 596651"/>
                <a:gd name="connsiteY28" fmla="*/ 235830 h 443943"/>
                <a:gd name="connsiteX29" fmla="*/ 301581 w 596651"/>
                <a:gd name="connsiteY29" fmla="*/ 235830 h 443943"/>
                <a:gd name="connsiteX30" fmla="*/ 51233 w 596651"/>
                <a:gd name="connsiteY30" fmla="*/ 141912 h 443943"/>
                <a:gd name="connsiteX31" fmla="*/ 51233 w 596651"/>
                <a:gd name="connsiteY31" fmla="*/ 305348 h 443943"/>
                <a:gd name="connsiteX32" fmla="*/ 16654 w 596651"/>
                <a:gd name="connsiteY32" fmla="*/ 305348 h 443943"/>
                <a:gd name="connsiteX33" fmla="*/ 16654 w 596651"/>
                <a:gd name="connsiteY33" fmla="*/ 118433 h 443943"/>
                <a:gd name="connsiteX34" fmla="*/ 26336 w 596651"/>
                <a:gd name="connsiteY34" fmla="*/ 104161 h 443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96651" h="443943">
                  <a:moveTo>
                    <a:pt x="10223" y="332075"/>
                  </a:moveTo>
                  <a:lnTo>
                    <a:pt x="57217" y="332075"/>
                  </a:lnTo>
                  <a:lnTo>
                    <a:pt x="67353" y="427370"/>
                  </a:lnTo>
                  <a:cubicBezTo>
                    <a:pt x="67813" y="431513"/>
                    <a:pt x="66431" y="435656"/>
                    <a:pt x="63667" y="438879"/>
                  </a:cubicBezTo>
                  <a:cubicBezTo>
                    <a:pt x="60902" y="442102"/>
                    <a:pt x="56756" y="443943"/>
                    <a:pt x="52149" y="443943"/>
                  </a:cubicBezTo>
                  <a:lnTo>
                    <a:pt x="15291" y="443943"/>
                  </a:lnTo>
                  <a:cubicBezTo>
                    <a:pt x="11144" y="443943"/>
                    <a:pt x="6998" y="442102"/>
                    <a:pt x="4233" y="438879"/>
                  </a:cubicBezTo>
                  <a:cubicBezTo>
                    <a:pt x="1008" y="435656"/>
                    <a:pt x="-374" y="431513"/>
                    <a:pt x="87" y="427370"/>
                  </a:cubicBezTo>
                  <a:close/>
                  <a:moveTo>
                    <a:pt x="528865" y="191185"/>
                  </a:moveTo>
                  <a:cubicBezTo>
                    <a:pt x="528865" y="191185"/>
                    <a:pt x="541774" y="308588"/>
                    <a:pt x="541774" y="309970"/>
                  </a:cubicBezTo>
                  <a:cubicBezTo>
                    <a:pt x="542235" y="318717"/>
                    <a:pt x="534858" y="325163"/>
                    <a:pt x="526559" y="325163"/>
                  </a:cubicBezTo>
                  <a:cubicBezTo>
                    <a:pt x="526098" y="325163"/>
                    <a:pt x="524715" y="325163"/>
                    <a:pt x="523793" y="325163"/>
                  </a:cubicBezTo>
                  <a:cubicBezTo>
                    <a:pt x="511806" y="323321"/>
                    <a:pt x="499357" y="322401"/>
                    <a:pt x="486909" y="322401"/>
                  </a:cubicBezTo>
                  <a:cubicBezTo>
                    <a:pt x="413140" y="322401"/>
                    <a:pt x="347209" y="353708"/>
                    <a:pt x="322773" y="399749"/>
                  </a:cubicBezTo>
                  <a:cubicBezTo>
                    <a:pt x="320468" y="404813"/>
                    <a:pt x="314935" y="408036"/>
                    <a:pt x="309403" y="408036"/>
                  </a:cubicBezTo>
                  <a:lnTo>
                    <a:pt x="304792" y="408036"/>
                  </a:lnTo>
                  <a:cubicBezTo>
                    <a:pt x="298798" y="408036"/>
                    <a:pt x="293727" y="404813"/>
                    <a:pt x="290960" y="399749"/>
                  </a:cubicBezTo>
                  <a:cubicBezTo>
                    <a:pt x="266524" y="353248"/>
                    <a:pt x="200594" y="322401"/>
                    <a:pt x="126825" y="322401"/>
                  </a:cubicBezTo>
                  <a:cubicBezTo>
                    <a:pt x="114376" y="322401"/>
                    <a:pt x="101928" y="323321"/>
                    <a:pt x="89940" y="325163"/>
                  </a:cubicBezTo>
                  <a:cubicBezTo>
                    <a:pt x="85330" y="325623"/>
                    <a:pt x="80258" y="324242"/>
                    <a:pt x="77031" y="320559"/>
                  </a:cubicBezTo>
                  <a:cubicBezTo>
                    <a:pt x="73342" y="317336"/>
                    <a:pt x="71959" y="312732"/>
                    <a:pt x="72420" y="307668"/>
                  </a:cubicBezTo>
                  <a:lnTo>
                    <a:pt x="85330" y="192106"/>
                  </a:lnTo>
                  <a:lnTo>
                    <a:pt x="307097" y="275439"/>
                  </a:lnTo>
                  <a:close/>
                  <a:moveTo>
                    <a:pt x="301581" y="1035"/>
                  </a:moveTo>
                  <a:cubicBezTo>
                    <a:pt x="305270" y="-346"/>
                    <a:pt x="308958" y="-346"/>
                    <a:pt x="312185" y="1035"/>
                  </a:cubicBezTo>
                  <a:lnTo>
                    <a:pt x="586508" y="104161"/>
                  </a:lnTo>
                  <a:cubicBezTo>
                    <a:pt x="592502" y="106463"/>
                    <a:pt x="596651" y="111987"/>
                    <a:pt x="596651" y="118433"/>
                  </a:cubicBezTo>
                  <a:cubicBezTo>
                    <a:pt x="596651" y="124878"/>
                    <a:pt x="592502" y="130403"/>
                    <a:pt x="586508" y="132705"/>
                  </a:cubicBezTo>
                  <a:lnTo>
                    <a:pt x="312185" y="235830"/>
                  </a:lnTo>
                  <a:cubicBezTo>
                    <a:pt x="308958" y="237211"/>
                    <a:pt x="305270" y="237211"/>
                    <a:pt x="301581" y="235830"/>
                  </a:cubicBezTo>
                  <a:lnTo>
                    <a:pt x="51233" y="141912"/>
                  </a:lnTo>
                  <a:lnTo>
                    <a:pt x="51233" y="305348"/>
                  </a:lnTo>
                  <a:lnTo>
                    <a:pt x="16654" y="305348"/>
                  </a:lnTo>
                  <a:lnTo>
                    <a:pt x="16654" y="118433"/>
                  </a:lnTo>
                  <a:cubicBezTo>
                    <a:pt x="16654" y="112448"/>
                    <a:pt x="20343" y="106463"/>
                    <a:pt x="26336" y="104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R" panose="00020600040101010101" pitchFamily="18" charset="-122"/>
                <a:ea typeface="+mn-ea"/>
                <a:cs typeface="+mn-cs"/>
              </a:endParaRPr>
            </a:p>
          </p:txBody>
        </p:sp>
        <p:sp>
          <p:nvSpPr>
            <p:cNvPr id="13" name="六青原创高端设计"/>
            <p:cNvSpPr txBox="1"/>
            <p:nvPr/>
          </p:nvSpPr>
          <p:spPr>
            <a:xfrm>
              <a:off x="4670493" y="5793007"/>
              <a:ext cx="31546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+mn-cs"/>
                </a:rPr>
                <a:t>申请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+mn-cs"/>
                </a:rPr>
                <a:t>方向：中关村国家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+mn-cs"/>
                </a:rPr>
                <a:t>实验室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8" name="六青原创高端设计"/>
            <p:cNvSpPr/>
            <p:nvPr/>
          </p:nvSpPr>
          <p:spPr>
            <a:xfrm>
              <a:off x="4384056" y="5793542"/>
              <a:ext cx="239447" cy="278007"/>
            </a:xfrm>
            <a:custGeom>
              <a:avLst/>
              <a:gdLst>
                <a:gd name="connsiteX0" fmla="*/ 166525 w 511059"/>
                <a:gd name="connsiteY0" fmla="*/ 236417 h 593362"/>
                <a:gd name="connsiteX1" fmla="*/ 147863 w 511059"/>
                <a:gd name="connsiteY1" fmla="*/ 300925 h 593362"/>
                <a:gd name="connsiteX2" fmla="*/ 166525 w 511059"/>
                <a:gd name="connsiteY2" fmla="*/ 300925 h 593362"/>
                <a:gd name="connsiteX3" fmla="*/ 338792 w 511059"/>
                <a:gd name="connsiteY3" fmla="*/ 233550 h 593362"/>
                <a:gd name="connsiteX4" fmla="*/ 340227 w 511059"/>
                <a:gd name="connsiteY4" fmla="*/ 300925 h 593362"/>
                <a:gd name="connsiteX5" fmla="*/ 357454 w 511059"/>
                <a:gd name="connsiteY5" fmla="*/ 300925 h 593362"/>
                <a:gd name="connsiteX6" fmla="*/ 225383 w 511059"/>
                <a:gd name="connsiteY6" fmla="*/ 173342 h 593362"/>
                <a:gd name="connsiteX7" fmla="*/ 256965 w 511059"/>
                <a:gd name="connsiteY7" fmla="*/ 209180 h 593362"/>
                <a:gd name="connsiteX8" fmla="*/ 287112 w 511059"/>
                <a:gd name="connsiteY8" fmla="*/ 173342 h 593362"/>
                <a:gd name="connsiteX9" fmla="*/ 374681 w 511059"/>
                <a:gd name="connsiteY9" fmla="*/ 186244 h 593362"/>
                <a:gd name="connsiteX10" fmla="*/ 406263 w 511059"/>
                <a:gd name="connsiteY10" fmla="*/ 300925 h 593362"/>
                <a:gd name="connsiteX11" fmla="*/ 511059 w 511059"/>
                <a:gd name="connsiteY11" fmla="*/ 300925 h 593362"/>
                <a:gd name="connsiteX12" fmla="*/ 511059 w 511059"/>
                <a:gd name="connsiteY12" fmla="*/ 366867 h 593362"/>
                <a:gd name="connsiteX13" fmla="*/ 469428 w 511059"/>
                <a:gd name="connsiteY13" fmla="*/ 366867 h 593362"/>
                <a:gd name="connsiteX14" fmla="*/ 469428 w 511059"/>
                <a:gd name="connsiteY14" fmla="*/ 593362 h 593362"/>
                <a:gd name="connsiteX15" fmla="*/ 41631 w 511059"/>
                <a:gd name="connsiteY15" fmla="*/ 593362 h 593362"/>
                <a:gd name="connsiteX16" fmla="*/ 41631 w 511059"/>
                <a:gd name="connsiteY16" fmla="*/ 366867 h 593362"/>
                <a:gd name="connsiteX17" fmla="*/ 0 w 511059"/>
                <a:gd name="connsiteY17" fmla="*/ 366867 h 593362"/>
                <a:gd name="connsiteX18" fmla="*/ 0 w 511059"/>
                <a:gd name="connsiteY18" fmla="*/ 300925 h 593362"/>
                <a:gd name="connsiteX19" fmla="*/ 101925 w 511059"/>
                <a:gd name="connsiteY19" fmla="*/ 300925 h 593362"/>
                <a:gd name="connsiteX20" fmla="*/ 136378 w 511059"/>
                <a:gd name="connsiteY20" fmla="*/ 184810 h 593362"/>
                <a:gd name="connsiteX21" fmla="*/ 254840 w 511059"/>
                <a:gd name="connsiteY21" fmla="*/ 0 h 593362"/>
                <a:gd name="connsiteX22" fmla="*/ 335879 w 511059"/>
                <a:gd name="connsiteY22" fmla="*/ 81039 h 593362"/>
                <a:gd name="connsiteX23" fmla="*/ 254840 w 511059"/>
                <a:gd name="connsiteY23" fmla="*/ 162078 h 593362"/>
                <a:gd name="connsiteX24" fmla="*/ 173801 w 511059"/>
                <a:gd name="connsiteY24" fmla="*/ 81039 h 593362"/>
                <a:gd name="connsiteX25" fmla="*/ 254840 w 511059"/>
                <a:gd name="connsiteY25" fmla="*/ 0 h 59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11059" h="593362">
                  <a:moveTo>
                    <a:pt x="166525" y="236417"/>
                  </a:moveTo>
                  <a:lnTo>
                    <a:pt x="147863" y="300925"/>
                  </a:lnTo>
                  <a:lnTo>
                    <a:pt x="166525" y="300925"/>
                  </a:lnTo>
                  <a:close/>
                  <a:moveTo>
                    <a:pt x="338792" y="233550"/>
                  </a:moveTo>
                  <a:lnTo>
                    <a:pt x="340227" y="300925"/>
                  </a:lnTo>
                  <a:lnTo>
                    <a:pt x="357454" y="300925"/>
                  </a:lnTo>
                  <a:close/>
                  <a:moveTo>
                    <a:pt x="225383" y="173342"/>
                  </a:moveTo>
                  <a:lnTo>
                    <a:pt x="256965" y="209180"/>
                  </a:lnTo>
                  <a:lnTo>
                    <a:pt x="287112" y="173342"/>
                  </a:lnTo>
                  <a:lnTo>
                    <a:pt x="374681" y="186244"/>
                  </a:lnTo>
                  <a:lnTo>
                    <a:pt x="406263" y="300925"/>
                  </a:lnTo>
                  <a:lnTo>
                    <a:pt x="511059" y="300925"/>
                  </a:lnTo>
                  <a:lnTo>
                    <a:pt x="511059" y="366867"/>
                  </a:lnTo>
                  <a:lnTo>
                    <a:pt x="469428" y="366867"/>
                  </a:lnTo>
                  <a:lnTo>
                    <a:pt x="469428" y="593362"/>
                  </a:lnTo>
                  <a:lnTo>
                    <a:pt x="41631" y="593362"/>
                  </a:lnTo>
                  <a:lnTo>
                    <a:pt x="41631" y="366867"/>
                  </a:lnTo>
                  <a:lnTo>
                    <a:pt x="0" y="366867"/>
                  </a:lnTo>
                  <a:lnTo>
                    <a:pt x="0" y="300925"/>
                  </a:lnTo>
                  <a:lnTo>
                    <a:pt x="101925" y="300925"/>
                  </a:lnTo>
                  <a:lnTo>
                    <a:pt x="136378" y="184810"/>
                  </a:lnTo>
                  <a:close/>
                  <a:moveTo>
                    <a:pt x="254840" y="0"/>
                  </a:moveTo>
                  <a:cubicBezTo>
                    <a:pt x="299597" y="0"/>
                    <a:pt x="335879" y="36282"/>
                    <a:pt x="335879" y="81039"/>
                  </a:cubicBezTo>
                  <a:cubicBezTo>
                    <a:pt x="335879" y="125796"/>
                    <a:pt x="299597" y="162078"/>
                    <a:pt x="254840" y="162078"/>
                  </a:cubicBezTo>
                  <a:cubicBezTo>
                    <a:pt x="210083" y="162078"/>
                    <a:pt x="173801" y="125796"/>
                    <a:pt x="173801" y="81039"/>
                  </a:cubicBezTo>
                  <a:cubicBezTo>
                    <a:pt x="173801" y="36282"/>
                    <a:pt x="210083" y="0"/>
                    <a:pt x="254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R" panose="00020600040101010101" pitchFamily="18" charset="-122"/>
                  <a:ea typeface="+mn-ea"/>
                  <a:cs typeface="+mn-cs"/>
                </a:rPr>
                <a:t> 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R" panose="00020600040101010101" pitchFamily="18" charset="-122"/>
                <a:ea typeface="+mn-ea"/>
                <a:cs typeface="+mn-cs"/>
              </a:endParaRPr>
            </a:p>
          </p:txBody>
        </p:sp>
        <p:sp>
          <p:nvSpPr>
            <p:cNvPr id="14" name="六青原创高端设计"/>
            <p:cNvSpPr txBox="1"/>
            <p:nvPr/>
          </p:nvSpPr>
          <p:spPr>
            <a:xfrm>
              <a:off x="8811444" y="5782212"/>
              <a:ext cx="2374612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+mn-cs"/>
                </a:rPr>
                <a:t>日期：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+mn-cs"/>
                </a:rPr>
                <a:t>2026.09.13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9" name="六青原创高端设计"/>
            <p:cNvSpPr/>
            <p:nvPr/>
          </p:nvSpPr>
          <p:spPr>
            <a:xfrm>
              <a:off x="8568944" y="5835068"/>
              <a:ext cx="242500" cy="263620"/>
            </a:xfrm>
            <a:custGeom>
              <a:avLst/>
              <a:gdLst>
                <a:gd name="connsiteX0" fmla="*/ 440316 w 536231"/>
                <a:gd name="connsiteY0" fmla="*/ 549437 h 606736"/>
                <a:gd name="connsiteX1" fmla="*/ 464169 w 536231"/>
                <a:gd name="connsiteY1" fmla="*/ 583372 h 606736"/>
                <a:gd name="connsiteX2" fmla="*/ 430704 w 536231"/>
                <a:gd name="connsiteY2" fmla="*/ 606736 h 606736"/>
                <a:gd name="connsiteX3" fmla="*/ 406940 w 536231"/>
                <a:gd name="connsiteY3" fmla="*/ 572801 h 606736"/>
                <a:gd name="connsiteX4" fmla="*/ 440316 w 536231"/>
                <a:gd name="connsiteY4" fmla="*/ 549437 h 606736"/>
                <a:gd name="connsiteX5" fmla="*/ 95960 w 536231"/>
                <a:gd name="connsiteY5" fmla="*/ 549437 h 606736"/>
                <a:gd name="connsiteX6" fmla="*/ 129336 w 536231"/>
                <a:gd name="connsiteY6" fmla="*/ 572801 h 606736"/>
                <a:gd name="connsiteX7" fmla="*/ 105483 w 536231"/>
                <a:gd name="connsiteY7" fmla="*/ 606736 h 606736"/>
                <a:gd name="connsiteX8" fmla="*/ 72107 w 536231"/>
                <a:gd name="connsiteY8" fmla="*/ 583372 h 606736"/>
                <a:gd name="connsiteX9" fmla="*/ 246741 w 536231"/>
                <a:gd name="connsiteY9" fmla="*/ 202650 h 606736"/>
                <a:gd name="connsiteX10" fmla="*/ 246741 w 536231"/>
                <a:gd name="connsiteY10" fmla="*/ 346814 h 606736"/>
                <a:gd name="connsiteX11" fmla="*/ 348828 w 536231"/>
                <a:gd name="connsiteY11" fmla="*/ 448760 h 606736"/>
                <a:gd name="connsiteX12" fmla="*/ 377664 w 536231"/>
                <a:gd name="connsiteY12" fmla="*/ 419962 h 606736"/>
                <a:gd name="connsiteX13" fmla="*/ 287594 w 536231"/>
                <a:gd name="connsiteY13" fmla="*/ 329927 h 606736"/>
                <a:gd name="connsiteX14" fmla="*/ 287594 w 536231"/>
                <a:gd name="connsiteY14" fmla="*/ 202650 h 606736"/>
                <a:gd name="connsiteX15" fmla="*/ 268102 w 536231"/>
                <a:gd name="connsiteY15" fmla="*/ 108614 h 606736"/>
                <a:gd name="connsiteX16" fmla="*/ 498886 w 536231"/>
                <a:gd name="connsiteY16" fmla="*/ 339081 h 606736"/>
                <a:gd name="connsiteX17" fmla="*/ 268102 w 536231"/>
                <a:gd name="connsiteY17" fmla="*/ 569548 h 606736"/>
                <a:gd name="connsiteX18" fmla="*/ 37318 w 536231"/>
                <a:gd name="connsiteY18" fmla="*/ 339081 h 606736"/>
                <a:gd name="connsiteX19" fmla="*/ 268102 w 536231"/>
                <a:gd name="connsiteY19" fmla="*/ 108614 h 606736"/>
                <a:gd name="connsiteX20" fmla="*/ 396984 w 536231"/>
                <a:gd name="connsiteY20" fmla="*/ 1809 h 606736"/>
                <a:gd name="connsiteX21" fmla="*/ 485626 w 536231"/>
                <a:gd name="connsiteY21" fmla="*/ 21426 h 606736"/>
                <a:gd name="connsiteX22" fmla="*/ 514729 w 536231"/>
                <a:gd name="connsiteY22" fmla="*/ 186448 h 606736"/>
                <a:gd name="connsiteX23" fmla="*/ 320356 w 536231"/>
                <a:gd name="connsiteY23" fmla="*/ 50574 h 606736"/>
                <a:gd name="connsiteX24" fmla="*/ 396984 w 536231"/>
                <a:gd name="connsiteY24" fmla="*/ 1809 h 606736"/>
                <a:gd name="connsiteX25" fmla="*/ 139293 w 536231"/>
                <a:gd name="connsiteY25" fmla="*/ 1809 h 606736"/>
                <a:gd name="connsiteX26" fmla="*/ 215849 w 536231"/>
                <a:gd name="connsiteY26" fmla="*/ 50574 h 606736"/>
                <a:gd name="connsiteX27" fmla="*/ 21460 w 536231"/>
                <a:gd name="connsiteY27" fmla="*/ 186448 h 606736"/>
                <a:gd name="connsiteX28" fmla="*/ 50654 w 536231"/>
                <a:gd name="connsiteY28" fmla="*/ 21426 h 606736"/>
                <a:gd name="connsiteX29" fmla="*/ 139293 w 536231"/>
                <a:gd name="connsiteY29" fmla="*/ 1809 h 606736"/>
                <a:gd name="connsiteX30" fmla="*/ 247744 w 536231"/>
                <a:gd name="connsiteY30" fmla="*/ 14 h 606736"/>
                <a:gd name="connsiteX31" fmla="*/ 288531 w 536231"/>
                <a:gd name="connsiteY31" fmla="*/ 14 h 606736"/>
                <a:gd name="connsiteX32" fmla="*/ 288531 w 536231"/>
                <a:gd name="connsiteY32" fmla="*/ 68604 h 606736"/>
                <a:gd name="connsiteX33" fmla="*/ 268138 w 536231"/>
                <a:gd name="connsiteY33" fmla="*/ 67893 h 606736"/>
                <a:gd name="connsiteX34" fmla="*/ 247744 w 536231"/>
                <a:gd name="connsiteY34" fmla="*/ 68604 h 606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36231" h="606736">
                  <a:moveTo>
                    <a:pt x="440316" y="549437"/>
                  </a:moveTo>
                  <a:lnTo>
                    <a:pt x="464169" y="583372"/>
                  </a:lnTo>
                  <a:lnTo>
                    <a:pt x="430704" y="606736"/>
                  </a:lnTo>
                  <a:lnTo>
                    <a:pt x="406940" y="572801"/>
                  </a:lnTo>
                  <a:cubicBezTo>
                    <a:pt x="418689" y="565783"/>
                    <a:pt x="429814" y="557965"/>
                    <a:pt x="440316" y="549437"/>
                  </a:cubicBezTo>
                  <a:close/>
                  <a:moveTo>
                    <a:pt x="95960" y="549437"/>
                  </a:moveTo>
                  <a:cubicBezTo>
                    <a:pt x="106462" y="557965"/>
                    <a:pt x="117587" y="565783"/>
                    <a:pt x="129336" y="572801"/>
                  </a:cubicBezTo>
                  <a:lnTo>
                    <a:pt x="105483" y="606736"/>
                  </a:lnTo>
                  <a:lnTo>
                    <a:pt x="72107" y="583372"/>
                  </a:lnTo>
                  <a:close/>
                  <a:moveTo>
                    <a:pt x="246741" y="202650"/>
                  </a:moveTo>
                  <a:lnTo>
                    <a:pt x="246741" y="346814"/>
                  </a:lnTo>
                  <a:lnTo>
                    <a:pt x="348828" y="448760"/>
                  </a:lnTo>
                  <a:lnTo>
                    <a:pt x="377664" y="419962"/>
                  </a:lnTo>
                  <a:lnTo>
                    <a:pt x="287594" y="329927"/>
                  </a:lnTo>
                  <a:lnTo>
                    <a:pt x="287594" y="202650"/>
                  </a:lnTo>
                  <a:close/>
                  <a:moveTo>
                    <a:pt x="268102" y="108614"/>
                  </a:moveTo>
                  <a:cubicBezTo>
                    <a:pt x="395554" y="108614"/>
                    <a:pt x="498886" y="211804"/>
                    <a:pt x="498886" y="339081"/>
                  </a:cubicBezTo>
                  <a:cubicBezTo>
                    <a:pt x="498886" y="466358"/>
                    <a:pt x="395554" y="569548"/>
                    <a:pt x="268102" y="569548"/>
                  </a:cubicBezTo>
                  <a:cubicBezTo>
                    <a:pt x="140650" y="569548"/>
                    <a:pt x="37318" y="466358"/>
                    <a:pt x="37318" y="339081"/>
                  </a:cubicBezTo>
                  <a:cubicBezTo>
                    <a:pt x="37318" y="211804"/>
                    <a:pt x="140650" y="108614"/>
                    <a:pt x="268102" y="108614"/>
                  </a:cubicBezTo>
                  <a:close/>
                  <a:moveTo>
                    <a:pt x="396984" y="1809"/>
                  </a:moveTo>
                  <a:cubicBezTo>
                    <a:pt x="426887" y="-3456"/>
                    <a:pt x="458793" y="2676"/>
                    <a:pt x="485626" y="21426"/>
                  </a:cubicBezTo>
                  <a:cubicBezTo>
                    <a:pt x="539292" y="59016"/>
                    <a:pt x="552375" y="132863"/>
                    <a:pt x="514729" y="186448"/>
                  </a:cubicBezTo>
                  <a:lnTo>
                    <a:pt x="320356" y="50574"/>
                  </a:lnTo>
                  <a:cubicBezTo>
                    <a:pt x="339179" y="23737"/>
                    <a:pt x="367080" y="7075"/>
                    <a:pt x="396984" y="1809"/>
                  </a:cubicBezTo>
                  <a:close/>
                  <a:moveTo>
                    <a:pt x="139293" y="1809"/>
                  </a:moveTo>
                  <a:cubicBezTo>
                    <a:pt x="169188" y="7075"/>
                    <a:pt x="197069" y="23737"/>
                    <a:pt x="215849" y="50574"/>
                  </a:cubicBezTo>
                  <a:lnTo>
                    <a:pt x="21460" y="186448"/>
                  </a:lnTo>
                  <a:cubicBezTo>
                    <a:pt x="-16100" y="132863"/>
                    <a:pt x="-3105" y="58927"/>
                    <a:pt x="50654" y="21426"/>
                  </a:cubicBezTo>
                  <a:cubicBezTo>
                    <a:pt x="77489" y="2676"/>
                    <a:pt x="109398" y="-3456"/>
                    <a:pt x="139293" y="1809"/>
                  </a:cubicBezTo>
                  <a:close/>
                  <a:moveTo>
                    <a:pt x="247744" y="14"/>
                  </a:moveTo>
                  <a:lnTo>
                    <a:pt x="288531" y="14"/>
                  </a:lnTo>
                  <a:lnTo>
                    <a:pt x="288531" y="68604"/>
                  </a:lnTo>
                  <a:cubicBezTo>
                    <a:pt x="281852" y="68160"/>
                    <a:pt x="274995" y="67893"/>
                    <a:pt x="268138" y="67893"/>
                  </a:cubicBezTo>
                  <a:cubicBezTo>
                    <a:pt x="261280" y="67893"/>
                    <a:pt x="254512" y="68160"/>
                    <a:pt x="247744" y="686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R" panose="00020600040101010101" pitchFamily="18" charset="-122"/>
                <a:ea typeface="+mn-ea"/>
                <a:cs typeface="+mn-cs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2F2F2">
                  <a:alpha val="100000"/>
                </a:srgbClr>
              </a:clrFrom>
              <a:clrTo>
                <a:srgbClr val="F2F2F2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38470" y="837565"/>
            <a:ext cx="1066800" cy="1045845"/>
          </a:xfrm>
          <a:prstGeom prst="ellipse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14600" y="361188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05A69"/>
                </a:solidFill>
                <a:latin typeface="Microsoft YaHei"/>
              </a:rPr>
              <a:t>文献组会汇报｜arXiv:2412.20977v2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375F"/>
                </a:solidFill>
                <a:latin typeface="Microsoft YaHei"/>
              </a:rPr>
              <a:t>1. 研究问题：具身智能需要走出“室内房间”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9696"/>
                </a:solidFill>
                <a:latin typeface="Microsoft YaHei"/>
              </a:rPr>
              <a:t>研究背景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0817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32588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现有模拟器多聚焦室内活动或城市驾驶，开放世界泛化不足。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3113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真实任务同时包含非结构化地形、动态目标、不同身体形态和多智能体互动。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5409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97180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目标：用高保真、可控、可扩展的虚拟世界训练并评测具身智能体。</a:t>
            </a:r>
          </a:p>
        </p:txBody>
      </p:sp>
      <p:pic>
        <p:nvPicPr>
          <p:cNvPr id="11" name="Picture 10" descr="titl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34440"/>
            <a:ext cx="4617720" cy="59758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375F"/>
                </a:solidFill>
                <a:latin typeface="Microsoft YaHei"/>
              </a:rPr>
              <a:t>2. UnrealZoo 的资源：场景、实体与变化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9696"/>
                </a:solidFill>
                <a:latin typeface="Microsoft YaHei"/>
              </a:rPr>
              <a:t>核心资源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6245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28016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100+ 照片级真实场景：室内、建筑、社区、城市与自然景观。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85415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多种风格与尺度：现代、古代、科幻、东西方文化；最大场景超过 16 km²。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0837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92608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可玩实体覆盖人、动物、机器人、无人机、汽车、摩托车与虚拟相机。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831335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749039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支持天气、时间、人口和物体控制，便于构造可重复实验。</a:t>
            </a:r>
          </a:p>
        </p:txBody>
      </p:sp>
      <p:pic>
        <p:nvPicPr>
          <p:cNvPr id="13" name="Picture 12" descr="scen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43000"/>
            <a:ext cx="4983480" cy="64492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375F"/>
                </a:solidFill>
                <a:latin typeface="Microsoft YaHei"/>
              </a:rPr>
              <a:t>3. UnrealCV+：把游戏引擎变成实验平台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9696"/>
                </a:solidFill>
                <a:latin typeface="Microsoft YaHei"/>
              </a:rPr>
              <a:t>系统方法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0817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32588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Python 客户端—Unreal Engine 服务端：统一获取观测、发送动作与修改环境。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3113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批量传输、并行处理和优化接口，降低大场景、多智能体下的通信开销。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5409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97180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提供 Gym 接口、演示采集、环境增强、人口控制、时间膨胀与分布式训练工具。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87705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核心设计目标：可扩展、可复现、适合闭环控制。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375F"/>
                </a:solidFill>
                <a:latin typeface="Microsoft YaHei"/>
              </a:rPr>
              <a:t>4. 论文前八页已经给出的核心假设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9696"/>
                </a:solidFill>
                <a:latin typeface="Microsoft YaHei"/>
              </a:rPr>
              <a:t>研究设计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0817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32588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环境多样性能够帮助智能体学习更稳健的空间表征。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3113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丰富的实体形态有助于测试跨形态泛化与社会交互。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5409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97180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低延迟通信是动态任务中稳定感知—控制闭环的基础。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87705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后续实验将用导航和跟踪两个任务验证这些假设。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375F"/>
                </a:solidFill>
                <a:latin typeface="Microsoft YaHei"/>
              </a:rPr>
              <a:t>5. 前八页内容的贡献总结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9696"/>
                </a:solidFill>
                <a:latin typeface="Microsoft YaHei"/>
              </a:rPr>
              <a:t>贡献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5389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37160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贡献一：构建覆盖多场景、多尺度、多风格的 UnrealZoo。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7685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9456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贡献二：提供多形态可玩实体与可编程动态环境。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99815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1752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贡献三：优化 UnrealCV，提供易用 API 与标准化工具链。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92277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84048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贡献四：用导航、跟踪和社会交互任务检验平台价值。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375F"/>
                </a:solidFill>
                <a:latin typeface="Microsoft YaHei"/>
              </a:rPr>
              <a:t>6. 需要留意的限制与可讨论问题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9696"/>
                </a:solidFill>
                <a:latin typeface="Microsoft YaHei"/>
              </a:rPr>
              <a:t>讨论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0817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32588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场景数量多不等于真实世界分布完全覆盖，训练分布如何设计仍是问题。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3113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照片级渲染与现实传感器噪声、动力学误差之间仍存在差距。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5409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97180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高 FPS 是否能稳定转化为真实机器人收益，需要仿真到现实实验验证。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877056"/>
            <a:ext cx="128016" cy="128016"/>
          </a:xfrm>
          <a:prstGeom prst="ellipse">
            <a:avLst/>
          </a:prstGeom>
          <a:solidFill>
            <a:srgbClr val="2B7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375F"/>
                </a:solidFill>
                <a:latin typeface="Microsoft YaHei"/>
              </a:rPr>
              <a:t>多智能体社会交互的评价指标仍需要更系统的基准。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375F"/>
                </a:solidFill>
                <a:latin typeface="Microsoft YaHei"/>
              </a:rPr>
              <a:t>谢谢｜敬请老师批评指正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9696"/>
                </a:solidFill>
                <a:latin typeface="Microsoft YaHei"/>
              </a:rPr>
              <a:t>结束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8375F"/>
                </a:solidFill>
                <a:latin typeface="Microsoft YaHei"/>
              </a:rPr>
              <a:t>汇报范围：论文前八页</a:t>
            </a:r>
            <a:br/>
            <a:r>
              <a:rPr sz="2500" b="1">
                <a:solidFill>
                  <a:srgbClr val="18375F"/>
                </a:solidFill>
                <a:latin typeface="Microsoft YaHei"/>
              </a:rPr>
              <a:t>重点：研究动机、资源设计、UnrealCV+ 工具链与实验设想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282"/>
      </a:accent1>
      <a:accent2>
        <a:srgbClr val="DC9090"/>
      </a:accent2>
      <a:accent3>
        <a:srgbClr val="F3C5C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WPS 演示</Application>
  <PresentationFormat>宽屏</PresentationFormat>
  <Paragraphs>28</Paragraphs>
  <Slides>2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OPPOSans R</vt:lpstr>
      <vt:lpstr>OPPOSans B</vt:lpstr>
      <vt:lpstr>Arial</vt:lpstr>
      <vt:lpstr>Noto Sans SC</vt:lpstr>
      <vt:lpstr>OPPOSans H</vt:lpstr>
      <vt:lpstr>黑体</vt:lpstr>
      <vt:lpstr>思源黑体 CN Bold</vt:lpstr>
      <vt:lpstr>微软雅黑</vt:lpstr>
      <vt:lpstr>Arial Unicode MS</vt:lpstr>
      <vt:lpstr>等线</vt:lpstr>
      <vt:lpstr>1_Office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二木 张</dc:creator>
  <cp:lastModifiedBy>-ixzz</cp:lastModifiedBy>
  <cp:revision>137</cp:revision>
  <dcterms:created xsi:type="dcterms:W3CDTF">2026-05-31T08:09:00Z</dcterms:created>
  <dcterms:modified xsi:type="dcterms:W3CDTF">2026-10-13T12:36:58Z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4A3DD51CD4294DC79D8FB3AEC862313B_13</vt:lpwstr>
  </property>
</Properties>
</file>